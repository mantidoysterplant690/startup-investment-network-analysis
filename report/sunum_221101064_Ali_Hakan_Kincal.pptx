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ben Ali Hakan Kıncal. BİL403 Sosyal Ağlar dönem projemde startup ekosistemini bir sosyal ağ olarak modelledim. Crunchbase'in 2013 açık verisini kullanarak yatırımcılar ile startuplar arasındaki ilişki ağını inceledim.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soruya cevap aradım: ağın temel yapısı; ağır kuyruk, dev bileşen ve küçük-dünya gibi klasik örüntülerin varlığı; merkezi aktörlerin kimler olduğu; ve yatırımcılar arasında anlamlı toplulukların olup olmadığı.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 Crunchbase'in Ekim 2013 açık dökümü. 52 bin 868 yatırım kaydı, 11 bin 572 şirket ve 10 bin 552 yatırımcı var. Her satır bir yatırım olayını temsil ediyor. Encoding ve satır sonu sorunlarını ön işlemede düzelttim. Dikkat çekici bir nokta: 92 kurum hem yatırımcı hem yatırım alan rolünde.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 bipartite kurdum: bir tarafta yatırımcılar, diğer tarafta şirketler. Kenar ağırlığı toplam yatırım tutarı. Çift rollü kurumları iki ayrı düğüm olarak modelledim ki bipartite yapı bozulmasın. Analizlerde ağırlıklı olarak igraph kullandım; yol uzunluklarını örneklemeyle, betweenness'ı kesin hesapladım.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rakamlar: 22 bin düğüm, 41 bin kenar. Ağ son derece seyrek - yoğunluk on binde üç. Buna rağmen düğümlerin yüzde 84'ü tek bir dev bileşende toplanıyor. Bipartite kümelenme katsayısı 0,31. Ağın tipi: yönsüz, ağırlıklı, iki parçalı.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Derece dağılımı her iki tarafta da ağır kuyruklu. Medyan yatırımcı tek bir şirkete yatırım yapmışken SV Angel 399 şirkete yatırım yapmış. MLE ile tahmin ettiğim power-law üsteli 1,8 ile 2 arasında - çok ağır bir kuyruk. Bu, zengin daha zenginleşir mekanizmasının klasik 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bileşende ortalama en kısa yol 6 - klasik altı derece ayrılık. Assortativity negatif: büyük hub'lar çok sayıda küçük oyuncuya bağlanıyor. k-core ayrışımı belirgin bir merkez-çeper yapısı gösteriyor: en içteki 6-core çekirdekte sadece 516 düğüm var. Soldaki grafikte derece ile betweenness ilişkisi görülüyor: güçlü korelasyon ama geniş saçılım.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görsel ekosistemin en yoğun bağlı çekirdeği: 6-core altağı. 516 düğümlük bu çekirdekte Y Combinator, 500 Startups, First Round Capital, Andreessen Horowitz gibi Silikon Vadisi aktörleri var. Ekosistemin kalbi burada atıyor.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Ortak-yatırım ağında Louvain algoritması 54 topluluk buldu, modülerlik 0,44. Topluluklar rastgele değil: en büyüğü geç aşama kurumsal VC'ler, ikincisi Silikon Vadisi tohum çevresi, ayrıca Techstars ve 500 Startups kendi ekosistemlerini oluşturuyor. Yani yatırım klikleri aşama ve coğrafya eksenlerinde örgütleniyor.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ana sonuç: Birincisi, ağ seyrek ama son derece eşitsiz. İkincisi, küçük dünya özelliği bilginin hızla yayılmasına imkan veriyor. Üçüncüsü, belirgin bir merkez-çeper yapısı var. Dördüncüsü, farklı merkeziyet ölçümleri büyük ölçüde aynı aktörleri gösteriyor. Beşincisi, yatırım toplulukları ekonomik olarak anlamlı eksenlerde ayrışıyor.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Kısıtlar: veri 2013'te donmuş ve ABD ağırlıklı; performans verisi olmadığı için merkeziyet-başarı ilişkisini test edemedim. Gelecekte dinamik ağ analizi, homofili analizi ve güncel veriyle karşılaştırma yapılabilir.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IPython notebook üzerinde canlı demoya geçiyorum. Veriyi yükleyip ağı igraph ile kuracağım, temel ölçümleri ve merkeziyet analizlerini çalıştırıp topluluk tespitini göstereceğim. Teşekkürler.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371600"/>
            <a:ext cx="10698480" cy="201168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Startup Ekosisteminde</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Yatırımcı–Şirket İlişki Ağı</a:t>
            </a:r>
            <a:endParaRPr lang="en-US" sz="4000" dirty="0"/>
          </a:p>
        </p:txBody>
      </p:sp>
      <p:sp>
        <p:nvSpPr>
          <p:cNvPr id="3" name="Text 1"/>
          <p:cNvSpPr/>
          <p:nvPr/>
        </p:nvSpPr>
        <p:spPr>
          <a:xfrm>
            <a:off x="731520" y="3291840"/>
            <a:ext cx="10058400" cy="54864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Sosyal Ağ Analizi ile Crunchbase 2013 Verisinin İncelenmesi</a:t>
            </a:r>
            <a:endParaRPr lang="en-US" sz="2000" dirty="0"/>
          </a:p>
        </p:txBody>
      </p:sp>
      <p:sp>
        <p:nvSpPr>
          <p:cNvPr id="4" name="Text 2"/>
          <p:cNvSpPr/>
          <p:nvPr/>
        </p:nvSpPr>
        <p:spPr>
          <a:xfrm>
            <a:off x="731520" y="5120640"/>
            <a:ext cx="9144000" cy="9144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Ali Hakan Kıncal  ·  221101064  ·  Bilgisayar Mühendisliği</a:t>
            </a:r>
            <a:endParaRPr lang="en-US" sz="1600" dirty="0"/>
          </a:p>
          <a:p>
            <a:pPr indent="0" marL="0">
              <a:buNone/>
            </a:pPr>
            <a:r>
              <a:rPr lang="en-US" sz="1600" dirty="0">
                <a:solidFill>
                  <a:srgbClr val="CADCFC"/>
                </a:solidFill>
                <a:latin typeface="Calibri" pitchFamily="34" charset="0"/>
                <a:ea typeface="Calibri" pitchFamily="34" charset="-122"/>
                <a:cs typeface="Calibri" pitchFamily="34" charset="-120"/>
              </a:rPr>
              <a:t>BİL403-503 Sosyal Ağlar — Dönem Projesi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Motivasyon ve Araştırma Soruları</a:t>
            </a:r>
            <a:endParaRPr lang="en-US" sz="3200" dirty="0"/>
          </a:p>
        </p:txBody>
      </p:sp>
      <p:sp>
        <p:nvSpPr>
          <p:cNvPr id="3" name="Shape 1"/>
          <p:cNvSpPr/>
          <p:nvPr/>
        </p:nvSpPr>
        <p:spPr>
          <a:xfrm>
            <a:off x="731520" y="1463040"/>
            <a:ext cx="685800" cy="685800"/>
          </a:xfrm>
          <a:prstGeom prst="ellipse">
            <a:avLst/>
          </a:prstGeom>
          <a:solidFill>
            <a:srgbClr val="1E2761"/>
          </a:solidFill>
          <a:ln/>
        </p:spPr>
      </p:sp>
      <p:sp>
        <p:nvSpPr>
          <p:cNvPr id="4" name="Text 2"/>
          <p:cNvSpPr/>
          <p:nvPr/>
        </p:nvSpPr>
        <p:spPr>
          <a:xfrm>
            <a:off x="731520" y="146304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p:nvPr/>
        </p:nvSpPr>
        <p:spPr>
          <a:xfrm>
            <a:off x="1691640" y="1417320"/>
            <a:ext cx="9601200" cy="457200"/>
          </a:xfrm>
          <a:prstGeom prst="rect">
            <a:avLst/>
          </a:prstGeom>
          <a:noFill/>
          <a:ln/>
        </p:spPr>
        <p:txBody>
          <a:bodyPr wrap="square" lIns="0" tIns="0" rIns="0" bIns="0" rtlCol="0" anchor="ctr"/>
          <a:lstStyle/>
          <a:p>
            <a:pPr indent="0" marL="0">
              <a:buNone/>
            </a:pPr>
            <a:r>
              <a:rPr lang="en-US" sz="1900" b="1" dirty="0">
                <a:solidFill>
                  <a:srgbClr val="1A1A2E"/>
                </a:solidFill>
                <a:latin typeface="Calibri" pitchFamily="34" charset="0"/>
                <a:ea typeface="Calibri" pitchFamily="34" charset="-122"/>
                <a:cs typeface="Calibri" pitchFamily="34" charset="-120"/>
              </a:rPr>
              <a:t>Ağın temel yapısal özellikleri neler?</a:t>
            </a:r>
            <a:endParaRPr lang="en-US" sz="1900" dirty="0"/>
          </a:p>
        </p:txBody>
      </p:sp>
      <p:sp>
        <p:nvSpPr>
          <p:cNvPr id="6" name="Text 4"/>
          <p:cNvSpPr/>
          <p:nvPr/>
        </p:nvSpPr>
        <p:spPr>
          <a:xfrm>
            <a:off x="1691640" y="1847088"/>
            <a:ext cx="9601200" cy="41148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Yoğunluk, derece dağılımı, kümelenme, bileşenler</a:t>
            </a:r>
            <a:endParaRPr lang="en-US" sz="1400" dirty="0"/>
          </a:p>
        </p:txBody>
      </p:sp>
      <p:sp>
        <p:nvSpPr>
          <p:cNvPr id="7" name="Shape 5"/>
          <p:cNvSpPr/>
          <p:nvPr/>
        </p:nvSpPr>
        <p:spPr>
          <a:xfrm>
            <a:off x="731520" y="2697480"/>
            <a:ext cx="685800" cy="685800"/>
          </a:xfrm>
          <a:prstGeom prst="ellipse">
            <a:avLst/>
          </a:prstGeom>
          <a:solidFill>
            <a:srgbClr val="1E2761"/>
          </a:solidFill>
          <a:ln/>
        </p:spPr>
      </p:sp>
      <p:sp>
        <p:nvSpPr>
          <p:cNvPr id="8" name="Text 6"/>
          <p:cNvSpPr/>
          <p:nvPr/>
        </p:nvSpPr>
        <p:spPr>
          <a:xfrm>
            <a:off x="731520" y="26974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9" name="Text 7"/>
          <p:cNvSpPr/>
          <p:nvPr/>
        </p:nvSpPr>
        <p:spPr>
          <a:xfrm>
            <a:off x="1691640" y="2651760"/>
            <a:ext cx="9601200" cy="457200"/>
          </a:xfrm>
          <a:prstGeom prst="rect">
            <a:avLst/>
          </a:prstGeom>
          <a:noFill/>
          <a:ln/>
        </p:spPr>
        <p:txBody>
          <a:bodyPr wrap="square" lIns="0" tIns="0" rIns="0" bIns="0" rtlCol="0" anchor="ctr"/>
          <a:lstStyle/>
          <a:p>
            <a:pPr indent="0" marL="0">
              <a:buNone/>
            </a:pPr>
            <a:r>
              <a:rPr lang="en-US" sz="1900" b="1" dirty="0">
                <a:solidFill>
                  <a:srgbClr val="1A1A2E"/>
                </a:solidFill>
                <a:latin typeface="Calibri" pitchFamily="34" charset="0"/>
                <a:ea typeface="Calibri" pitchFamily="34" charset="-122"/>
                <a:cs typeface="Calibri" pitchFamily="34" charset="-120"/>
              </a:rPr>
              <a:t>Klasik ağ örüntüleri var mı?</a:t>
            </a:r>
            <a:endParaRPr lang="en-US" sz="1900" dirty="0"/>
          </a:p>
        </p:txBody>
      </p:sp>
      <p:sp>
        <p:nvSpPr>
          <p:cNvPr id="10" name="Text 8"/>
          <p:cNvSpPr/>
          <p:nvPr/>
        </p:nvSpPr>
        <p:spPr>
          <a:xfrm>
            <a:off x="1691640" y="3081528"/>
            <a:ext cx="9601200" cy="41148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Ağır kuyruk, dev bileşen, küçük-dünya</a:t>
            </a:r>
            <a:endParaRPr lang="en-US" sz="1400" dirty="0"/>
          </a:p>
        </p:txBody>
      </p:sp>
      <p:sp>
        <p:nvSpPr>
          <p:cNvPr id="11" name="Shape 9"/>
          <p:cNvSpPr/>
          <p:nvPr/>
        </p:nvSpPr>
        <p:spPr>
          <a:xfrm>
            <a:off x="731520" y="3931920"/>
            <a:ext cx="685800" cy="685800"/>
          </a:xfrm>
          <a:prstGeom prst="ellipse">
            <a:avLst/>
          </a:prstGeom>
          <a:solidFill>
            <a:srgbClr val="1E2761"/>
          </a:solidFill>
          <a:ln/>
        </p:spPr>
      </p:sp>
      <p:sp>
        <p:nvSpPr>
          <p:cNvPr id="12" name="Text 10"/>
          <p:cNvSpPr/>
          <p:nvPr/>
        </p:nvSpPr>
        <p:spPr>
          <a:xfrm>
            <a:off x="731520" y="39319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1691640" y="3886200"/>
            <a:ext cx="9601200" cy="457200"/>
          </a:xfrm>
          <a:prstGeom prst="rect">
            <a:avLst/>
          </a:prstGeom>
          <a:noFill/>
          <a:ln/>
        </p:spPr>
        <p:txBody>
          <a:bodyPr wrap="square" lIns="0" tIns="0" rIns="0" bIns="0" rtlCol="0" anchor="ctr"/>
          <a:lstStyle/>
          <a:p>
            <a:pPr indent="0" marL="0">
              <a:buNone/>
            </a:pPr>
            <a:r>
              <a:rPr lang="en-US" sz="1900" b="1" dirty="0">
                <a:solidFill>
                  <a:srgbClr val="1A1A2E"/>
                </a:solidFill>
                <a:latin typeface="Calibri" pitchFamily="34" charset="0"/>
                <a:ea typeface="Calibri" pitchFamily="34" charset="-122"/>
                <a:cs typeface="Calibri" pitchFamily="34" charset="-120"/>
              </a:rPr>
              <a:t>Kimler merkezi konumda?</a:t>
            </a:r>
            <a:endParaRPr lang="en-US" sz="1900" dirty="0"/>
          </a:p>
        </p:txBody>
      </p:sp>
      <p:sp>
        <p:nvSpPr>
          <p:cNvPr id="14" name="Text 12"/>
          <p:cNvSpPr/>
          <p:nvPr/>
        </p:nvSpPr>
        <p:spPr>
          <a:xfrm>
            <a:off x="1691640" y="4315968"/>
            <a:ext cx="9601200" cy="41148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Derece, betweenness, PageRank, k-core aynı aktörleri mi gösteriyor?</a:t>
            </a:r>
            <a:endParaRPr lang="en-US" sz="1400" dirty="0"/>
          </a:p>
        </p:txBody>
      </p:sp>
      <p:sp>
        <p:nvSpPr>
          <p:cNvPr id="15" name="Shape 13"/>
          <p:cNvSpPr/>
          <p:nvPr/>
        </p:nvSpPr>
        <p:spPr>
          <a:xfrm>
            <a:off x="731520" y="5166360"/>
            <a:ext cx="685800" cy="685800"/>
          </a:xfrm>
          <a:prstGeom prst="ellipse">
            <a:avLst/>
          </a:prstGeom>
          <a:solidFill>
            <a:srgbClr val="1E2761"/>
          </a:solidFill>
          <a:ln/>
        </p:spPr>
      </p:sp>
      <p:sp>
        <p:nvSpPr>
          <p:cNvPr id="16" name="Text 14"/>
          <p:cNvSpPr/>
          <p:nvPr/>
        </p:nvSpPr>
        <p:spPr>
          <a:xfrm>
            <a:off x="731520" y="516636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7" name="Text 15"/>
          <p:cNvSpPr/>
          <p:nvPr/>
        </p:nvSpPr>
        <p:spPr>
          <a:xfrm>
            <a:off x="1691640" y="5120640"/>
            <a:ext cx="9601200" cy="457200"/>
          </a:xfrm>
          <a:prstGeom prst="rect">
            <a:avLst/>
          </a:prstGeom>
          <a:noFill/>
          <a:ln/>
        </p:spPr>
        <p:txBody>
          <a:bodyPr wrap="square" lIns="0" tIns="0" rIns="0" bIns="0" rtlCol="0" anchor="ctr"/>
          <a:lstStyle/>
          <a:p>
            <a:pPr indent="0" marL="0">
              <a:buNone/>
            </a:pPr>
            <a:r>
              <a:rPr lang="en-US" sz="1900" b="1" dirty="0">
                <a:solidFill>
                  <a:srgbClr val="1A1A2E"/>
                </a:solidFill>
                <a:latin typeface="Calibri" pitchFamily="34" charset="0"/>
                <a:ea typeface="Calibri" pitchFamily="34" charset="-122"/>
                <a:cs typeface="Calibri" pitchFamily="34" charset="-120"/>
              </a:rPr>
              <a:t>Yatırım klikleri var mı?</a:t>
            </a:r>
            <a:endParaRPr lang="en-US" sz="1900" dirty="0"/>
          </a:p>
        </p:txBody>
      </p:sp>
      <p:sp>
        <p:nvSpPr>
          <p:cNvPr id="18" name="Text 16"/>
          <p:cNvSpPr/>
          <p:nvPr/>
        </p:nvSpPr>
        <p:spPr>
          <a:xfrm>
            <a:off x="1691640" y="5550408"/>
            <a:ext cx="9601200" cy="41148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Ortak-yatırım ağında topluluk tespiti (Louvain)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Veri: Crunchbase Ekim 2013 Açık Dökümü</a:t>
            </a:r>
            <a:endParaRPr lang="en-US" sz="3200" dirty="0"/>
          </a:p>
        </p:txBody>
      </p:sp>
      <p:sp>
        <p:nvSpPr>
          <p:cNvPr id="3" name="Shape 1"/>
          <p:cNvSpPr/>
          <p:nvPr/>
        </p:nvSpPr>
        <p:spPr>
          <a:xfrm>
            <a:off x="731520" y="1554480"/>
            <a:ext cx="2560320" cy="1645920"/>
          </a:xfrm>
          <a:prstGeom prst="roundRect">
            <a:avLst>
              <a:gd name="adj" fmla="val 6667"/>
            </a:avLst>
          </a:prstGeom>
          <a:solidFill>
            <a:srgbClr val="F0F4FB"/>
          </a:solidFill>
          <a:ln/>
        </p:spPr>
      </p:sp>
      <p:sp>
        <p:nvSpPr>
          <p:cNvPr id="4" name="Text 2"/>
          <p:cNvSpPr/>
          <p:nvPr/>
        </p:nvSpPr>
        <p:spPr>
          <a:xfrm>
            <a:off x="731520" y="1691640"/>
            <a:ext cx="2560320" cy="82296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52.868</a:t>
            </a:r>
            <a:endParaRPr lang="en-US" sz="3000" dirty="0"/>
          </a:p>
        </p:txBody>
      </p:sp>
      <p:sp>
        <p:nvSpPr>
          <p:cNvPr id="5" name="Text 3"/>
          <p:cNvSpPr/>
          <p:nvPr/>
        </p:nvSpPr>
        <p:spPr>
          <a:xfrm>
            <a:off x="731520" y="2514600"/>
            <a:ext cx="2560320" cy="457200"/>
          </a:xfrm>
          <a:prstGeom prst="rect">
            <a:avLst/>
          </a:prstGeom>
          <a:noFill/>
          <a:ln/>
        </p:spPr>
        <p:txBody>
          <a:bodyPr wrap="square" lIns="0" tIns="0" rIns="0" bIns="0" rtlCol="0" anchor="ctr"/>
          <a:lstStyle/>
          <a:p>
            <a:pPr algn="ctr" indent="0" marL="0">
              <a:buNone/>
            </a:pPr>
            <a:r>
              <a:rPr lang="en-US" sz="1400" dirty="0">
                <a:solidFill>
                  <a:srgbClr val="5A6478"/>
                </a:solidFill>
                <a:latin typeface="Calibri" pitchFamily="34" charset="0"/>
                <a:ea typeface="Calibri" pitchFamily="34" charset="-122"/>
                <a:cs typeface="Calibri" pitchFamily="34" charset="-120"/>
              </a:rPr>
              <a:t>yatırım kaydı</a:t>
            </a:r>
            <a:endParaRPr lang="en-US" sz="1400" dirty="0"/>
          </a:p>
        </p:txBody>
      </p:sp>
      <p:sp>
        <p:nvSpPr>
          <p:cNvPr id="6" name="Shape 4"/>
          <p:cNvSpPr/>
          <p:nvPr/>
        </p:nvSpPr>
        <p:spPr>
          <a:xfrm>
            <a:off x="3520440" y="1554480"/>
            <a:ext cx="2560320" cy="1645920"/>
          </a:xfrm>
          <a:prstGeom prst="roundRect">
            <a:avLst>
              <a:gd name="adj" fmla="val 6667"/>
            </a:avLst>
          </a:prstGeom>
          <a:solidFill>
            <a:srgbClr val="F0F4FB"/>
          </a:solidFill>
          <a:ln/>
        </p:spPr>
      </p:sp>
      <p:sp>
        <p:nvSpPr>
          <p:cNvPr id="7" name="Text 5"/>
          <p:cNvSpPr/>
          <p:nvPr/>
        </p:nvSpPr>
        <p:spPr>
          <a:xfrm>
            <a:off x="3520440" y="1691640"/>
            <a:ext cx="2560320" cy="82296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11.572</a:t>
            </a:r>
            <a:endParaRPr lang="en-US" sz="3000" dirty="0"/>
          </a:p>
        </p:txBody>
      </p:sp>
      <p:sp>
        <p:nvSpPr>
          <p:cNvPr id="8" name="Text 6"/>
          <p:cNvSpPr/>
          <p:nvPr/>
        </p:nvSpPr>
        <p:spPr>
          <a:xfrm>
            <a:off x="3520440" y="2514600"/>
            <a:ext cx="2560320" cy="457200"/>
          </a:xfrm>
          <a:prstGeom prst="rect">
            <a:avLst/>
          </a:prstGeom>
          <a:noFill/>
          <a:ln/>
        </p:spPr>
        <p:txBody>
          <a:bodyPr wrap="square" lIns="0" tIns="0" rIns="0" bIns="0" rtlCol="0" anchor="ctr"/>
          <a:lstStyle/>
          <a:p>
            <a:pPr algn="ctr" indent="0" marL="0">
              <a:buNone/>
            </a:pPr>
            <a:r>
              <a:rPr lang="en-US" sz="1400" dirty="0">
                <a:solidFill>
                  <a:srgbClr val="5A6478"/>
                </a:solidFill>
                <a:latin typeface="Calibri" pitchFamily="34" charset="0"/>
                <a:ea typeface="Calibri" pitchFamily="34" charset="-122"/>
                <a:cs typeface="Calibri" pitchFamily="34" charset="-120"/>
              </a:rPr>
              <a:t>benzersiz şirket</a:t>
            </a:r>
            <a:endParaRPr lang="en-US" sz="1400" dirty="0"/>
          </a:p>
        </p:txBody>
      </p:sp>
      <p:sp>
        <p:nvSpPr>
          <p:cNvPr id="9" name="Shape 7"/>
          <p:cNvSpPr/>
          <p:nvPr/>
        </p:nvSpPr>
        <p:spPr>
          <a:xfrm>
            <a:off x="6309360" y="1554480"/>
            <a:ext cx="2560320" cy="1645920"/>
          </a:xfrm>
          <a:prstGeom prst="roundRect">
            <a:avLst>
              <a:gd name="adj" fmla="val 6667"/>
            </a:avLst>
          </a:prstGeom>
          <a:solidFill>
            <a:srgbClr val="F0F4FB"/>
          </a:solidFill>
          <a:ln/>
        </p:spPr>
      </p:sp>
      <p:sp>
        <p:nvSpPr>
          <p:cNvPr id="10" name="Text 8"/>
          <p:cNvSpPr/>
          <p:nvPr/>
        </p:nvSpPr>
        <p:spPr>
          <a:xfrm>
            <a:off x="6309360" y="1691640"/>
            <a:ext cx="2560320" cy="82296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10.552</a:t>
            </a:r>
            <a:endParaRPr lang="en-US" sz="3000" dirty="0"/>
          </a:p>
        </p:txBody>
      </p:sp>
      <p:sp>
        <p:nvSpPr>
          <p:cNvPr id="11" name="Text 9"/>
          <p:cNvSpPr/>
          <p:nvPr/>
        </p:nvSpPr>
        <p:spPr>
          <a:xfrm>
            <a:off x="6309360" y="2514600"/>
            <a:ext cx="2560320" cy="457200"/>
          </a:xfrm>
          <a:prstGeom prst="rect">
            <a:avLst/>
          </a:prstGeom>
          <a:noFill/>
          <a:ln/>
        </p:spPr>
        <p:txBody>
          <a:bodyPr wrap="square" lIns="0" tIns="0" rIns="0" bIns="0" rtlCol="0" anchor="ctr"/>
          <a:lstStyle/>
          <a:p>
            <a:pPr algn="ctr" indent="0" marL="0">
              <a:buNone/>
            </a:pPr>
            <a:r>
              <a:rPr lang="en-US" sz="1400" dirty="0">
                <a:solidFill>
                  <a:srgbClr val="5A6478"/>
                </a:solidFill>
                <a:latin typeface="Calibri" pitchFamily="34" charset="0"/>
                <a:ea typeface="Calibri" pitchFamily="34" charset="-122"/>
                <a:cs typeface="Calibri" pitchFamily="34" charset="-120"/>
              </a:rPr>
              <a:t>benzersiz yatırımcı</a:t>
            </a:r>
            <a:endParaRPr lang="en-US" sz="1400" dirty="0"/>
          </a:p>
        </p:txBody>
      </p:sp>
      <p:sp>
        <p:nvSpPr>
          <p:cNvPr id="12" name="Shape 10"/>
          <p:cNvSpPr/>
          <p:nvPr/>
        </p:nvSpPr>
        <p:spPr>
          <a:xfrm>
            <a:off x="9098280" y="1554480"/>
            <a:ext cx="2560320" cy="1645920"/>
          </a:xfrm>
          <a:prstGeom prst="roundRect">
            <a:avLst>
              <a:gd name="adj" fmla="val 6667"/>
            </a:avLst>
          </a:prstGeom>
          <a:solidFill>
            <a:srgbClr val="F0F4FB"/>
          </a:solidFill>
          <a:ln/>
        </p:spPr>
      </p:sp>
      <p:sp>
        <p:nvSpPr>
          <p:cNvPr id="13" name="Text 11"/>
          <p:cNvSpPr/>
          <p:nvPr/>
        </p:nvSpPr>
        <p:spPr>
          <a:xfrm>
            <a:off x="9098280" y="1691640"/>
            <a:ext cx="2560320" cy="822960"/>
          </a:xfrm>
          <a:prstGeom prst="rect">
            <a:avLst/>
          </a:prstGeom>
          <a:noFill/>
          <a:ln/>
        </p:spPr>
        <p:txBody>
          <a:bodyPr wrap="square" lIns="0" tIns="0" rIns="0" bIns="0"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1987–2013</a:t>
            </a:r>
            <a:endParaRPr lang="en-US" sz="3000" dirty="0"/>
          </a:p>
        </p:txBody>
      </p:sp>
      <p:sp>
        <p:nvSpPr>
          <p:cNvPr id="14" name="Text 12"/>
          <p:cNvSpPr/>
          <p:nvPr/>
        </p:nvSpPr>
        <p:spPr>
          <a:xfrm>
            <a:off x="9098280" y="2514600"/>
            <a:ext cx="2560320" cy="457200"/>
          </a:xfrm>
          <a:prstGeom prst="rect">
            <a:avLst/>
          </a:prstGeom>
          <a:noFill/>
          <a:ln/>
        </p:spPr>
        <p:txBody>
          <a:bodyPr wrap="square" lIns="0" tIns="0" rIns="0" bIns="0" rtlCol="0" anchor="ctr"/>
          <a:lstStyle/>
          <a:p>
            <a:pPr algn="ctr" indent="0" marL="0">
              <a:buNone/>
            </a:pPr>
            <a:r>
              <a:rPr lang="en-US" sz="1400" dirty="0">
                <a:solidFill>
                  <a:srgbClr val="5A6478"/>
                </a:solidFill>
                <a:latin typeface="Calibri" pitchFamily="34" charset="0"/>
                <a:ea typeface="Calibri" pitchFamily="34" charset="-122"/>
                <a:cs typeface="Calibri" pitchFamily="34" charset="-120"/>
              </a:rPr>
              <a:t>zaman aralığı</a:t>
            </a:r>
            <a:endParaRPr lang="en-US" sz="1400" dirty="0"/>
          </a:p>
        </p:txBody>
      </p:sp>
      <p:sp>
        <p:nvSpPr>
          <p:cNvPr id="15" name="Text 13"/>
          <p:cNvSpPr/>
          <p:nvPr/>
        </p:nvSpPr>
        <p:spPr>
          <a:xfrm>
            <a:off x="822960" y="3749040"/>
            <a:ext cx="10607040" cy="2194560"/>
          </a:xfrm>
          <a:prstGeom prst="rect">
            <a:avLst/>
          </a:prstGeom>
          <a:noFill/>
          <a:ln/>
        </p:spPr>
        <p:txBody>
          <a:bodyPr wrap="square" rtlCol="0" anchor="ctr"/>
          <a:lstStyle/>
          <a:p>
            <a:pPr marL="342900" indent="-342900">
              <a:spcAft>
                <a:spcPts val="1000"/>
              </a:spcAft>
              <a:buSzPct val="100000"/>
              <a:buChar char="•"/>
            </a:pPr>
            <a:r>
              <a:rPr lang="en-US" sz="1600" dirty="0">
                <a:solidFill>
                  <a:srgbClr val="1A1A2E"/>
                </a:solidFill>
                <a:latin typeface="Calibri" pitchFamily="34" charset="0"/>
                <a:ea typeface="Calibri" pitchFamily="34" charset="-122"/>
                <a:cs typeface="Calibri" pitchFamily="34" charset="-120"/>
              </a:rPr>
              <a:t>Her satır bir yatırım olayı: yatırımcı → şirket, fonlama turu, tarih, tutar (USD)</a:t>
            </a:r>
            <a:endParaRPr lang="en-US" sz="1600" dirty="0"/>
          </a:p>
          <a:p>
            <a:pPr marL="342900" indent="-342900">
              <a:spcAft>
                <a:spcPts val="1000"/>
              </a:spcAft>
              <a:buSzPct val="100000"/>
              <a:buChar char="•"/>
            </a:pPr>
            <a:r>
              <a:rPr lang="en-US" sz="1600" dirty="0">
                <a:solidFill>
                  <a:srgbClr val="1A1A2E"/>
                </a:solidFill>
                <a:latin typeface="Calibri" pitchFamily="34" charset="0"/>
                <a:ea typeface="Calibri" pitchFamily="34" charset="-122"/>
                <a:cs typeface="Calibri" pitchFamily="34" charset="-120"/>
              </a:rPr>
              <a:t>CC-BY-NC lisanslı açık veri; kaynak: github.com/dsagal/crunchbase-october-2013</a:t>
            </a:r>
            <a:endParaRPr lang="en-US" sz="1600" dirty="0"/>
          </a:p>
          <a:p>
            <a:pPr marL="342900" indent="-342900">
              <a:spcAft>
                <a:spcPts val="1000"/>
              </a:spcAft>
              <a:buSzPct val="100000"/>
              <a:buChar char="•"/>
            </a:pPr>
            <a:r>
              <a:rPr lang="en-US" sz="1600" dirty="0">
                <a:solidFill>
                  <a:srgbClr val="1A1A2E"/>
                </a:solidFill>
                <a:latin typeface="Calibri" pitchFamily="34" charset="0"/>
                <a:ea typeface="Calibri" pitchFamily="34" charset="-122"/>
                <a:cs typeface="Calibri" pitchFamily="34" charset="-120"/>
              </a:rPr>
              <a:t>Ön işleme: ISO-8859-1 kodlama + eski-Mac satır sonları düzeltildi, eksik kimlikli 2 kayıt çıkarıldı</a:t>
            </a:r>
            <a:endParaRPr lang="en-US" sz="1600" dirty="0"/>
          </a:p>
          <a:p>
            <a:pPr marL="342900" indent="-342900">
              <a:spcAft>
                <a:spcPts val="1000"/>
              </a:spcAft>
              <a:buSzPct val="100000"/>
              <a:buChar char="•"/>
            </a:pPr>
            <a:r>
              <a:rPr lang="en-US" sz="1600" dirty="0">
                <a:solidFill>
                  <a:srgbClr val="1A1A2E"/>
                </a:solidFill>
                <a:latin typeface="Calibri" pitchFamily="34" charset="0"/>
                <a:ea typeface="Calibri" pitchFamily="34" charset="-122"/>
                <a:cs typeface="Calibri" pitchFamily="34" charset="-120"/>
              </a:rPr>
              <a:t>İlginç bulgu: 92 kurum (PayPal, eBay, NVIDIA...) hem yatırımcı hem yatırım alan — corporate VC</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Yöntem: İki Parçalı (Bipartite) Ağ Modeli</a:t>
            </a:r>
            <a:endParaRPr lang="en-US" sz="3200" dirty="0"/>
          </a:p>
        </p:txBody>
      </p:sp>
      <p:sp>
        <p:nvSpPr>
          <p:cNvPr id="3" name="Shape 1"/>
          <p:cNvSpPr/>
          <p:nvPr/>
        </p:nvSpPr>
        <p:spPr>
          <a:xfrm>
            <a:off x="1280160" y="1737360"/>
            <a:ext cx="502920" cy="502920"/>
          </a:xfrm>
          <a:prstGeom prst="ellipse">
            <a:avLst/>
          </a:prstGeom>
          <a:solidFill>
            <a:srgbClr val="2C6FBB"/>
          </a:solidFill>
          <a:ln/>
        </p:spPr>
      </p:sp>
      <p:sp>
        <p:nvSpPr>
          <p:cNvPr id="4" name="Shape 2"/>
          <p:cNvSpPr/>
          <p:nvPr/>
        </p:nvSpPr>
        <p:spPr>
          <a:xfrm>
            <a:off x="1280160" y="2651760"/>
            <a:ext cx="502920" cy="502920"/>
          </a:xfrm>
          <a:prstGeom prst="ellipse">
            <a:avLst/>
          </a:prstGeom>
          <a:solidFill>
            <a:srgbClr val="2C6FBB"/>
          </a:solidFill>
          <a:ln/>
        </p:spPr>
      </p:sp>
      <p:sp>
        <p:nvSpPr>
          <p:cNvPr id="5" name="Shape 3"/>
          <p:cNvSpPr/>
          <p:nvPr/>
        </p:nvSpPr>
        <p:spPr>
          <a:xfrm>
            <a:off x="1280160" y="3566160"/>
            <a:ext cx="502920" cy="502920"/>
          </a:xfrm>
          <a:prstGeom prst="ellipse">
            <a:avLst/>
          </a:prstGeom>
          <a:solidFill>
            <a:srgbClr val="2C6FBB"/>
          </a:solidFill>
          <a:ln/>
        </p:spPr>
      </p:sp>
      <p:sp>
        <p:nvSpPr>
          <p:cNvPr id="6" name="Shape 4"/>
          <p:cNvSpPr/>
          <p:nvPr/>
        </p:nvSpPr>
        <p:spPr>
          <a:xfrm>
            <a:off x="1280160" y="4480560"/>
            <a:ext cx="502920" cy="502920"/>
          </a:xfrm>
          <a:prstGeom prst="ellipse">
            <a:avLst/>
          </a:prstGeom>
          <a:solidFill>
            <a:srgbClr val="2C6FBB"/>
          </a:solidFill>
          <a:ln/>
        </p:spPr>
      </p:sp>
      <p:sp>
        <p:nvSpPr>
          <p:cNvPr id="7" name="Shape 5"/>
          <p:cNvSpPr/>
          <p:nvPr/>
        </p:nvSpPr>
        <p:spPr>
          <a:xfrm>
            <a:off x="4023360" y="1463040"/>
            <a:ext cx="411480" cy="411480"/>
          </a:xfrm>
          <a:prstGeom prst="ellipse">
            <a:avLst/>
          </a:prstGeom>
          <a:solidFill>
            <a:srgbClr val="C0392B"/>
          </a:solidFill>
          <a:ln/>
        </p:spPr>
      </p:sp>
      <p:sp>
        <p:nvSpPr>
          <p:cNvPr id="8" name="Shape 6"/>
          <p:cNvSpPr/>
          <p:nvPr/>
        </p:nvSpPr>
        <p:spPr>
          <a:xfrm>
            <a:off x="4023360" y="2194560"/>
            <a:ext cx="411480" cy="411480"/>
          </a:xfrm>
          <a:prstGeom prst="ellipse">
            <a:avLst/>
          </a:prstGeom>
          <a:solidFill>
            <a:srgbClr val="C0392B"/>
          </a:solidFill>
          <a:ln/>
        </p:spPr>
      </p:sp>
      <p:sp>
        <p:nvSpPr>
          <p:cNvPr id="9" name="Shape 7"/>
          <p:cNvSpPr/>
          <p:nvPr/>
        </p:nvSpPr>
        <p:spPr>
          <a:xfrm>
            <a:off x="4023360" y="2926080"/>
            <a:ext cx="411480" cy="411480"/>
          </a:xfrm>
          <a:prstGeom prst="ellipse">
            <a:avLst/>
          </a:prstGeom>
          <a:solidFill>
            <a:srgbClr val="C0392B"/>
          </a:solidFill>
          <a:ln/>
        </p:spPr>
      </p:sp>
      <p:sp>
        <p:nvSpPr>
          <p:cNvPr id="10" name="Shape 8"/>
          <p:cNvSpPr/>
          <p:nvPr/>
        </p:nvSpPr>
        <p:spPr>
          <a:xfrm>
            <a:off x="4023360" y="3657600"/>
            <a:ext cx="411480" cy="411480"/>
          </a:xfrm>
          <a:prstGeom prst="ellipse">
            <a:avLst/>
          </a:prstGeom>
          <a:solidFill>
            <a:srgbClr val="C0392B"/>
          </a:solidFill>
          <a:ln/>
        </p:spPr>
      </p:sp>
      <p:sp>
        <p:nvSpPr>
          <p:cNvPr id="11" name="Shape 9"/>
          <p:cNvSpPr/>
          <p:nvPr/>
        </p:nvSpPr>
        <p:spPr>
          <a:xfrm>
            <a:off x="4023360" y="4389120"/>
            <a:ext cx="411480" cy="411480"/>
          </a:xfrm>
          <a:prstGeom prst="ellipse">
            <a:avLst/>
          </a:prstGeom>
          <a:solidFill>
            <a:srgbClr val="C0392B"/>
          </a:solidFill>
          <a:ln/>
        </p:spPr>
      </p:sp>
      <p:sp>
        <p:nvSpPr>
          <p:cNvPr id="12" name="Shape 10"/>
          <p:cNvSpPr/>
          <p:nvPr/>
        </p:nvSpPr>
        <p:spPr>
          <a:xfrm>
            <a:off x="4023360" y="5120640"/>
            <a:ext cx="411480" cy="411480"/>
          </a:xfrm>
          <a:prstGeom prst="ellipse">
            <a:avLst/>
          </a:prstGeom>
          <a:solidFill>
            <a:srgbClr val="C0392B"/>
          </a:solidFill>
          <a:ln/>
        </p:spPr>
      </p:sp>
      <p:sp>
        <p:nvSpPr>
          <p:cNvPr id="13" name="Shape 11"/>
          <p:cNvSpPr/>
          <p:nvPr/>
        </p:nvSpPr>
        <p:spPr>
          <a:xfrm>
            <a:off x="1783080" y="1984248"/>
            <a:ext cx="2240280" cy="-320040"/>
          </a:xfrm>
          <a:prstGeom prst="line">
            <a:avLst/>
          </a:prstGeom>
          <a:noFill/>
          <a:ln w="12700">
            <a:solidFill>
              <a:srgbClr val="AAB4C8"/>
            </a:solidFill>
            <a:prstDash val="solid"/>
          </a:ln>
        </p:spPr>
      </p:sp>
      <p:sp>
        <p:nvSpPr>
          <p:cNvPr id="14" name="Shape 12"/>
          <p:cNvSpPr/>
          <p:nvPr/>
        </p:nvSpPr>
        <p:spPr>
          <a:xfrm>
            <a:off x="1783080" y="1984248"/>
            <a:ext cx="2240280" cy="411480"/>
          </a:xfrm>
          <a:prstGeom prst="line">
            <a:avLst/>
          </a:prstGeom>
          <a:noFill/>
          <a:ln w="12700">
            <a:solidFill>
              <a:srgbClr val="AAB4C8"/>
            </a:solidFill>
            <a:prstDash val="solid"/>
          </a:ln>
        </p:spPr>
      </p:sp>
      <p:sp>
        <p:nvSpPr>
          <p:cNvPr id="15" name="Shape 13"/>
          <p:cNvSpPr/>
          <p:nvPr/>
        </p:nvSpPr>
        <p:spPr>
          <a:xfrm>
            <a:off x="1783080" y="2898648"/>
            <a:ext cx="2240280" cy="-502920"/>
          </a:xfrm>
          <a:prstGeom prst="line">
            <a:avLst/>
          </a:prstGeom>
          <a:noFill/>
          <a:ln w="12700">
            <a:solidFill>
              <a:srgbClr val="AAB4C8"/>
            </a:solidFill>
            <a:prstDash val="solid"/>
          </a:ln>
        </p:spPr>
      </p:sp>
      <p:sp>
        <p:nvSpPr>
          <p:cNvPr id="16" name="Shape 14"/>
          <p:cNvSpPr/>
          <p:nvPr/>
        </p:nvSpPr>
        <p:spPr>
          <a:xfrm>
            <a:off x="1783080" y="2898648"/>
            <a:ext cx="2240280" cy="228600"/>
          </a:xfrm>
          <a:prstGeom prst="line">
            <a:avLst/>
          </a:prstGeom>
          <a:noFill/>
          <a:ln w="12700">
            <a:solidFill>
              <a:srgbClr val="AAB4C8"/>
            </a:solidFill>
            <a:prstDash val="solid"/>
          </a:ln>
        </p:spPr>
      </p:sp>
      <p:sp>
        <p:nvSpPr>
          <p:cNvPr id="17" name="Shape 15"/>
          <p:cNvSpPr/>
          <p:nvPr/>
        </p:nvSpPr>
        <p:spPr>
          <a:xfrm>
            <a:off x="1783080" y="3813048"/>
            <a:ext cx="2240280" cy="-685800"/>
          </a:xfrm>
          <a:prstGeom prst="line">
            <a:avLst/>
          </a:prstGeom>
          <a:noFill/>
          <a:ln w="12700">
            <a:solidFill>
              <a:srgbClr val="AAB4C8"/>
            </a:solidFill>
            <a:prstDash val="solid"/>
          </a:ln>
        </p:spPr>
      </p:sp>
      <p:sp>
        <p:nvSpPr>
          <p:cNvPr id="18" name="Shape 16"/>
          <p:cNvSpPr/>
          <p:nvPr/>
        </p:nvSpPr>
        <p:spPr>
          <a:xfrm>
            <a:off x="1783080" y="3813048"/>
            <a:ext cx="2240280" cy="45720"/>
          </a:xfrm>
          <a:prstGeom prst="line">
            <a:avLst/>
          </a:prstGeom>
          <a:noFill/>
          <a:ln w="12700">
            <a:solidFill>
              <a:srgbClr val="AAB4C8"/>
            </a:solidFill>
            <a:prstDash val="solid"/>
          </a:ln>
        </p:spPr>
      </p:sp>
      <p:sp>
        <p:nvSpPr>
          <p:cNvPr id="19" name="Shape 17"/>
          <p:cNvSpPr/>
          <p:nvPr/>
        </p:nvSpPr>
        <p:spPr>
          <a:xfrm>
            <a:off x="1783080" y="4727448"/>
            <a:ext cx="2240280" cy="-137160"/>
          </a:xfrm>
          <a:prstGeom prst="line">
            <a:avLst/>
          </a:prstGeom>
          <a:noFill/>
          <a:ln w="12700">
            <a:solidFill>
              <a:srgbClr val="AAB4C8"/>
            </a:solidFill>
            <a:prstDash val="solid"/>
          </a:ln>
        </p:spPr>
      </p:sp>
      <p:sp>
        <p:nvSpPr>
          <p:cNvPr id="20" name="Shape 18"/>
          <p:cNvSpPr/>
          <p:nvPr/>
        </p:nvSpPr>
        <p:spPr>
          <a:xfrm>
            <a:off x="1783080" y="4727448"/>
            <a:ext cx="2240280" cy="594360"/>
          </a:xfrm>
          <a:prstGeom prst="line">
            <a:avLst/>
          </a:prstGeom>
          <a:noFill/>
          <a:ln w="12700">
            <a:solidFill>
              <a:srgbClr val="AAB4C8"/>
            </a:solidFill>
            <a:prstDash val="solid"/>
          </a:ln>
        </p:spPr>
      </p:sp>
      <p:sp>
        <p:nvSpPr>
          <p:cNvPr id="21" name="Shape 19"/>
          <p:cNvSpPr/>
          <p:nvPr/>
        </p:nvSpPr>
        <p:spPr>
          <a:xfrm>
            <a:off x="1783080" y="2898648"/>
            <a:ext cx="2240280" cy="960120"/>
          </a:xfrm>
          <a:prstGeom prst="line">
            <a:avLst/>
          </a:prstGeom>
          <a:noFill/>
          <a:ln w="12700">
            <a:solidFill>
              <a:srgbClr val="AAB4C8"/>
            </a:solidFill>
            <a:prstDash val="solid"/>
          </a:ln>
        </p:spPr>
      </p:sp>
      <p:sp>
        <p:nvSpPr>
          <p:cNvPr id="22" name="Shape 20"/>
          <p:cNvSpPr/>
          <p:nvPr/>
        </p:nvSpPr>
        <p:spPr>
          <a:xfrm>
            <a:off x="1783080" y="1984248"/>
            <a:ext cx="2240280" cy="1143000"/>
          </a:xfrm>
          <a:prstGeom prst="line">
            <a:avLst/>
          </a:prstGeom>
          <a:noFill/>
          <a:ln w="12700">
            <a:solidFill>
              <a:srgbClr val="AAB4C8"/>
            </a:solidFill>
            <a:prstDash val="solid"/>
          </a:ln>
        </p:spPr>
      </p:sp>
      <p:sp>
        <p:nvSpPr>
          <p:cNvPr id="23" name="Text 21"/>
          <p:cNvSpPr/>
          <p:nvPr/>
        </p:nvSpPr>
        <p:spPr>
          <a:xfrm>
            <a:off x="640080" y="5212080"/>
            <a:ext cx="1828800" cy="365760"/>
          </a:xfrm>
          <a:prstGeom prst="rect">
            <a:avLst/>
          </a:prstGeom>
          <a:noFill/>
          <a:ln/>
        </p:spPr>
        <p:txBody>
          <a:bodyPr wrap="square" lIns="0" tIns="0" rIns="0" bIns="0" rtlCol="0" anchor="ctr"/>
          <a:lstStyle/>
          <a:p>
            <a:pPr indent="0" marL="0">
              <a:buNone/>
            </a:pPr>
            <a:r>
              <a:rPr lang="en-US" sz="1400" b="1" dirty="0">
                <a:solidFill>
                  <a:srgbClr val="2C6FBB"/>
                </a:solidFill>
                <a:latin typeface="Calibri" pitchFamily="34" charset="0"/>
                <a:ea typeface="Calibri" pitchFamily="34" charset="-122"/>
                <a:cs typeface="Calibri" pitchFamily="34" charset="-120"/>
              </a:rPr>
              <a:t>Yatırımcılar</a:t>
            </a:r>
            <a:endParaRPr lang="en-US" sz="1400" dirty="0"/>
          </a:p>
        </p:txBody>
      </p:sp>
      <p:sp>
        <p:nvSpPr>
          <p:cNvPr id="24" name="Text 22"/>
          <p:cNvSpPr/>
          <p:nvPr/>
        </p:nvSpPr>
        <p:spPr>
          <a:xfrm>
            <a:off x="3840480" y="5669280"/>
            <a:ext cx="1828800" cy="36576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Şirketler</a:t>
            </a:r>
            <a:endParaRPr lang="en-US" sz="1400" dirty="0"/>
          </a:p>
        </p:txBody>
      </p:sp>
      <p:sp>
        <p:nvSpPr>
          <p:cNvPr id="25" name="Text 23"/>
          <p:cNvSpPr/>
          <p:nvPr/>
        </p:nvSpPr>
        <p:spPr>
          <a:xfrm>
            <a:off x="5577840" y="1554480"/>
            <a:ext cx="6035040" cy="4389120"/>
          </a:xfrm>
          <a:prstGeom prst="rect">
            <a:avLst/>
          </a:prstGeom>
          <a:noFill/>
          <a:ln/>
        </p:spPr>
        <p:txBody>
          <a:bodyPr wrap="square" rtlCol="0" anchor="ctr"/>
          <a:lstStyle/>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Yönsüz, ağırlıklı, iki parçalı affiliation ağı</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Kenar ağırlığı = ikilinin tüm turlardaki toplam yatırım tutarı</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Çift-rollü 92 kurum: iki ayrı düğüm olarak modellendi (bipartite yapı korunur)</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Ana kütüphane: igraph (C çekirdekli) — Latapy bipartite kümelenmesi için NetworkX</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Yol/çap: 400 kaynaklı BFS örneklemesi; betweenness: kesin hesap</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Topluluklar: yatırımcı izdüşümünde Louvain algoritması</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Temel Ölçümler</a:t>
            </a:r>
            <a:endParaRPr lang="en-US" sz="3200" dirty="0"/>
          </a:p>
        </p:txBody>
      </p:sp>
      <p:sp>
        <p:nvSpPr>
          <p:cNvPr id="3" name="Shape 1"/>
          <p:cNvSpPr/>
          <p:nvPr/>
        </p:nvSpPr>
        <p:spPr>
          <a:xfrm>
            <a:off x="731520" y="1554480"/>
            <a:ext cx="3474720" cy="1920240"/>
          </a:xfrm>
          <a:prstGeom prst="roundRect">
            <a:avLst>
              <a:gd name="adj" fmla="val 5714"/>
            </a:avLst>
          </a:prstGeom>
          <a:solidFill>
            <a:srgbClr val="F0F4FB"/>
          </a:solidFill>
          <a:ln/>
        </p:spPr>
      </p:sp>
      <p:sp>
        <p:nvSpPr>
          <p:cNvPr id="4" name="Text 2"/>
          <p:cNvSpPr/>
          <p:nvPr/>
        </p:nvSpPr>
        <p:spPr>
          <a:xfrm>
            <a:off x="731520" y="1691640"/>
            <a:ext cx="347472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22.124</a:t>
            </a:r>
            <a:endParaRPr lang="en-US" sz="3400" dirty="0"/>
          </a:p>
        </p:txBody>
      </p:sp>
      <p:sp>
        <p:nvSpPr>
          <p:cNvPr id="5" name="Text 3"/>
          <p:cNvSpPr/>
          <p:nvPr/>
        </p:nvSpPr>
        <p:spPr>
          <a:xfrm>
            <a:off x="731520" y="2514600"/>
            <a:ext cx="347472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düğüm (order)</a:t>
            </a:r>
            <a:endParaRPr lang="en-US" sz="1600" dirty="0"/>
          </a:p>
        </p:txBody>
      </p:sp>
      <p:sp>
        <p:nvSpPr>
          <p:cNvPr id="6" name="Text 4"/>
          <p:cNvSpPr/>
          <p:nvPr/>
        </p:nvSpPr>
        <p:spPr>
          <a:xfrm>
            <a:off x="731520" y="2926080"/>
            <a:ext cx="3474720" cy="41148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10.552 yatırımcı + 11.572 şirket</a:t>
            </a:r>
            <a:endParaRPr lang="en-US" sz="1200" dirty="0"/>
          </a:p>
        </p:txBody>
      </p:sp>
      <p:sp>
        <p:nvSpPr>
          <p:cNvPr id="7" name="Shape 5"/>
          <p:cNvSpPr/>
          <p:nvPr/>
        </p:nvSpPr>
        <p:spPr>
          <a:xfrm>
            <a:off x="4480560" y="1554480"/>
            <a:ext cx="3474720" cy="1920240"/>
          </a:xfrm>
          <a:prstGeom prst="roundRect">
            <a:avLst>
              <a:gd name="adj" fmla="val 5714"/>
            </a:avLst>
          </a:prstGeom>
          <a:solidFill>
            <a:srgbClr val="F0F4FB"/>
          </a:solidFill>
          <a:ln/>
        </p:spPr>
      </p:sp>
      <p:sp>
        <p:nvSpPr>
          <p:cNvPr id="8" name="Text 6"/>
          <p:cNvSpPr/>
          <p:nvPr/>
        </p:nvSpPr>
        <p:spPr>
          <a:xfrm>
            <a:off x="4480560" y="1691640"/>
            <a:ext cx="347472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40.978</a:t>
            </a:r>
            <a:endParaRPr lang="en-US" sz="3400" dirty="0"/>
          </a:p>
        </p:txBody>
      </p:sp>
      <p:sp>
        <p:nvSpPr>
          <p:cNvPr id="9" name="Text 7"/>
          <p:cNvSpPr/>
          <p:nvPr/>
        </p:nvSpPr>
        <p:spPr>
          <a:xfrm>
            <a:off x="4480560" y="2514600"/>
            <a:ext cx="347472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kenar (size)</a:t>
            </a:r>
            <a:endParaRPr lang="en-US" sz="1600" dirty="0"/>
          </a:p>
        </p:txBody>
      </p:sp>
      <p:sp>
        <p:nvSpPr>
          <p:cNvPr id="10" name="Text 8"/>
          <p:cNvSpPr/>
          <p:nvPr/>
        </p:nvSpPr>
        <p:spPr>
          <a:xfrm>
            <a:off x="4480560" y="2926080"/>
            <a:ext cx="3474720" cy="41148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yatırımcı–şirket bağlantısı</a:t>
            </a:r>
            <a:endParaRPr lang="en-US" sz="1200" dirty="0"/>
          </a:p>
        </p:txBody>
      </p:sp>
      <p:sp>
        <p:nvSpPr>
          <p:cNvPr id="11" name="Shape 9"/>
          <p:cNvSpPr/>
          <p:nvPr/>
        </p:nvSpPr>
        <p:spPr>
          <a:xfrm>
            <a:off x="8229600" y="1554480"/>
            <a:ext cx="3474720" cy="1920240"/>
          </a:xfrm>
          <a:prstGeom prst="roundRect">
            <a:avLst>
              <a:gd name="adj" fmla="val 5714"/>
            </a:avLst>
          </a:prstGeom>
          <a:solidFill>
            <a:srgbClr val="F0F4FB"/>
          </a:solidFill>
          <a:ln/>
        </p:spPr>
      </p:sp>
      <p:sp>
        <p:nvSpPr>
          <p:cNvPr id="12" name="Text 10"/>
          <p:cNvSpPr/>
          <p:nvPr/>
        </p:nvSpPr>
        <p:spPr>
          <a:xfrm>
            <a:off x="8229600" y="1691640"/>
            <a:ext cx="347472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0,00034</a:t>
            </a:r>
            <a:endParaRPr lang="en-US" sz="3400" dirty="0"/>
          </a:p>
        </p:txBody>
      </p:sp>
      <p:sp>
        <p:nvSpPr>
          <p:cNvPr id="13" name="Text 11"/>
          <p:cNvSpPr/>
          <p:nvPr/>
        </p:nvSpPr>
        <p:spPr>
          <a:xfrm>
            <a:off x="8229600" y="2514600"/>
            <a:ext cx="347472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bipartite yoğunluk</a:t>
            </a:r>
            <a:endParaRPr lang="en-US" sz="1600" dirty="0"/>
          </a:p>
        </p:txBody>
      </p:sp>
      <p:sp>
        <p:nvSpPr>
          <p:cNvPr id="14" name="Text 12"/>
          <p:cNvSpPr/>
          <p:nvPr/>
        </p:nvSpPr>
        <p:spPr>
          <a:xfrm>
            <a:off x="8229600" y="2926080"/>
            <a:ext cx="3474720" cy="41148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olası kenarların on binde 3'ü</a:t>
            </a:r>
            <a:endParaRPr lang="en-US" sz="1200" dirty="0"/>
          </a:p>
        </p:txBody>
      </p:sp>
      <p:sp>
        <p:nvSpPr>
          <p:cNvPr id="15" name="Shape 13"/>
          <p:cNvSpPr/>
          <p:nvPr/>
        </p:nvSpPr>
        <p:spPr>
          <a:xfrm>
            <a:off x="731520" y="3840480"/>
            <a:ext cx="3474720" cy="1920240"/>
          </a:xfrm>
          <a:prstGeom prst="roundRect">
            <a:avLst>
              <a:gd name="adj" fmla="val 5714"/>
            </a:avLst>
          </a:prstGeom>
          <a:solidFill>
            <a:srgbClr val="F0F4FB"/>
          </a:solidFill>
          <a:ln/>
        </p:spPr>
      </p:sp>
      <p:sp>
        <p:nvSpPr>
          <p:cNvPr id="16" name="Text 14"/>
          <p:cNvSpPr/>
          <p:nvPr/>
        </p:nvSpPr>
        <p:spPr>
          <a:xfrm>
            <a:off x="731520" y="3977640"/>
            <a:ext cx="347472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%83,9</a:t>
            </a:r>
            <a:endParaRPr lang="en-US" sz="3400" dirty="0"/>
          </a:p>
        </p:txBody>
      </p:sp>
      <p:sp>
        <p:nvSpPr>
          <p:cNvPr id="17" name="Text 15"/>
          <p:cNvSpPr/>
          <p:nvPr/>
        </p:nvSpPr>
        <p:spPr>
          <a:xfrm>
            <a:off x="731520" y="4800600"/>
            <a:ext cx="347472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dev bileşen</a:t>
            </a:r>
            <a:endParaRPr lang="en-US" sz="1600" dirty="0"/>
          </a:p>
        </p:txBody>
      </p:sp>
      <p:sp>
        <p:nvSpPr>
          <p:cNvPr id="18" name="Text 16"/>
          <p:cNvSpPr/>
          <p:nvPr/>
        </p:nvSpPr>
        <p:spPr>
          <a:xfrm>
            <a:off x="731520" y="5212080"/>
            <a:ext cx="3474720" cy="41148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18.559 düğüm tek bileşende</a:t>
            </a:r>
            <a:endParaRPr lang="en-US" sz="1200" dirty="0"/>
          </a:p>
        </p:txBody>
      </p:sp>
      <p:sp>
        <p:nvSpPr>
          <p:cNvPr id="19" name="Shape 17"/>
          <p:cNvSpPr/>
          <p:nvPr/>
        </p:nvSpPr>
        <p:spPr>
          <a:xfrm>
            <a:off x="4480560" y="3840480"/>
            <a:ext cx="3474720" cy="1920240"/>
          </a:xfrm>
          <a:prstGeom prst="roundRect">
            <a:avLst>
              <a:gd name="adj" fmla="val 5714"/>
            </a:avLst>
          </a:prstGeom>
          <a:solidFill>
            <a:srgbClr val="F0F4FB"/>
          </a:solidFill>
          <a:ln/>
        </p:spPr>
      </p:sp>
      <p:sp>
        <p:nvSpPr>
          <p:cNvPr id="20" name="Text 18"/>
          <p:cNvSpPr/>
          <p:nvPr/>
        </p:nvSpPr>
        <p:spPr>
          <a:xfrm>
            <a:off x="4480560" y="3977640"/>
            <a:ext cx="347472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0,314</a:t>
            </a:r>
            <a:endParaRPr lang="en-US" sz="3400" dirty="0"/>
          </a:p>
        </p:txBody>
      </p:sp>
      <p:sp>
        <p:nvSpPr>
          <p:cNvPr id="21" name="Text 19"/>
          <p:cNvSpPr/>
          <p:nvPr/>
        </p:nvSpPr>
        <p:spPr>
          <a:xfrm>
            <a:off x="4480560" y="4800600"/>
            <a:ext cx="347472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bipartite kümelenme</a:t>
            </a:r>
            <a:endParaRPr lang="en-US" sz="1600" dirty="0"/>
          </a:p>
        </p:txBody>
      </p:sp>
      <p:sp>
        <p:nvSpPr>
          <p:cNvPr id="22" name="Text 20"/>
          <p:cNvSpPr/>
          <p:nvPr/>
        </p:nvSpPr>
        <p:spPr>
          <a:xfrm>
            <a:off x="4480560" y="5212080"/>
            <a:ext cx="3474720" cy="41148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Latapy 4-döngü katsayısı</a:t>
            </a:r>
            <a:endParaRPr lang="en-US" sz="1200" dirty="0"/>
          </a:p>
        </p:txBody>
      </p:sp>
      <p:sp>
        <p:nvSpPr>
          <p:cNvPr id="23" name="Shape 21"/>
          <p:cNvSpPr/>
          <p:nvPr/>
        </p:nvSpPr>
        <p:spPr>
          <a:xfrm>
            <a:off x="8229600" y="3840480"/>
            <a:ext cx="3474720" cy="1920240"/>
          </a:xfrm>
          <a:prstGeom prst="roundRect">
            <a:avLst>
              <a:gd name="adj" fmla="val 5714"/>
            </a:avLst>
          </a:prstGeom>
          <a:solidFill>
            <a:srgbClr val="F0F4FB"/>
          </a:solidFill>
          <a:ln/>
        </p:spPr>
      </p:sp>
      <p:sp>
        <p:nvSpPr>
          <p:cNvPr id="24" name="Text 22"/>
          <p:cNvSpPr/>
          <p:nvPr/>
        </p:nvSpPr>
        <p:spPr>
          <a:xfrm>
            <a:off x="8229600" y="3977640"/>
            <a:ext cx="347472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1.316</a:t>
            </a:r>
            <a:endParaRPr lang="en-US" sz="3400" dirty="0"/>
          </a:p>
        </p:txBody>
      </p:sp>
      <p:sp>
        <p:nvSpPr>
          <p:cNvPr id="25" name="Text 23"/>
          <p:cNvSpPr/>
          <p:nvPr/>
        </p:nvSpPr>
        <p:spPr>
          <a:xfrm>
            <a:off x="8229600" y="4800600"/>
            <a:ext cx="347472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bağlı bileşen</a:t>
            </a:r>
            <a:endParaRPr lang="en-US" sz="1600" dirty="0"/>
          </a:p>
        </p:txBody>
      </p:sp>
      <p:sp>
        <p:nvSpPr>
          <p:cNvPr id="26" name="Text 24"/>
          <p:cNvSpPr/>
          <p:nvPr/>
        </p:nvSpPr>
        <p:spPr>
          <a:xfrm>
            <a:off x="8229600" y="5212080"/>
            <a:ext cx="3474720" cy="41148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biri dev, gerisi 2–19 düğümlük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Derece Dağılımı: Ağır Kuyruk</a:t>
            </a:r>
            <a:endParaRPr lang="en-US" sz="3200" dirty="0"/>
          </a:p>
        </p:txBody>
      </p:sp>
      <p:pic>
        <p:nvPicPr>
          <p:cNvPr id="3" name="Image 0" descr="report/degree_distribution.png">    </p:cNvPr>
          <p:cNvPicPr>
            <a:picLocks noChangeAspect="1"/>
          </p:cNvPicPr>
          <p:nvPr/>
        </p:nvPicPr>
        <p:blipFill>
          <a:blip r:embed="rId1"/>
          <a:stretch>
            <a:fillRect/>
          </a:stretch>
        </p:blipFill>
        <p:spPr>
          <a:xfrm>
            <a:off x="640080" y="1417320"/>
            <a:ext cx="7223760" cy="2761488"/>
          </a:xfrm>
          <a:prstGeom prst="rect">
            <a:avLst/>
          </a:prstGeom>
        </p:spPr>
      </p:pic>
      <p:sp>
        <p:nvSpPr>
          <p:cNvPr id="4" name="Text 1"/>
          <p:cNvSpPr/>
          <p:nvPr/>
        </p:nvSpPr>
        <p:spPr>
          <a:xfrm>
            <a:off x="8046720" y="1554480"/>
            <a:ext cx="3749040" cy="3291840"/>
          </a:xfrm>
          <a:prstGeom prst="rect">
            <a:avLst/>
          </a:prstGeom>
          <a:noFill/>
          <a:ln/>
        </p:spPr>
        <p:txBody>
          <a:bodyPr wrap="square" rtlCol="0" anchor="ctr"/>
          <a:lstStyle/>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Medyan yatırımcı: 1 şirket — SV Angel: 399 şirket</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Power-law üsteli (MLE): α ≈ 1,8–2,0</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"Zengin daha zenginleşir": preferential attachment izi</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En büyükler: SV Angel 399, NEA 283, Techstars 241, Intel Capital 228</a:t>
            </a:r>
            <a:endParaRPr lang="en-US" sz="1500" dirty="0"/>
          </a:p>
        </p:txBody>
      </p:sp>
      <p:sp>
        <p:nvSpPr>
          <p:cNvPr id="5" name="Text 2"/>
          <p:cNvSpPr/>
          <p:nvPr/>
        </p:nvSpPr>
        <p:spPr>
          <a:xfrm>
            <a:off x="640080" y="4846320"/>
            <a:ext cx="10972800" cy="548640"/>
          </a:xfrm>
          <a:prstGeom prst="rect">
            <a:avLst/>
          </a:prstGeom>
          <a:noFill/>
          <a:ln/>
        </p:spPr>
        <p:txBody>
          <a:bodyPr wrap="square" rtlCol="0" anchor="ctr"/>
          <a:lstStyle/>
          <a:p>
            <a:pPr indent="0" marL="0">
              <a:buNone/>
            </a:pPr>
            <a:r>
              <a:rPr lang="en-US" sz="1600" i="1" dirty="0">
                <a:solidFill>
                  <a:srgbClr val="5A6478"/>
                </a:solidFill>
                <a:latin typeface="Calibri" pitchFamily="34" charset="0"/>
                <a:ea typeface="Calibri" pitchFamily="34" charset="-122"/>
                <a:cs typeface="Calibri" pitchFamily="34" charset="-120"/>
              </a:rPr>
              <a:t>Log-log ölçekte yaklaşık doğrusal örüntü → az sayıda dev hub, binlerce küçük oyuncu</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Küçük Dünya ve Merkez–Çeper Yapısı</a:t>
            </a:r>
            <a:endParaRPr lang="en-US" sz="3200" dirty="0"/>
          </a:p>
        </p:txBody>
      </p:sp>
      <p:pic>
        <p:nvPicPr>
          <p:cNvPr id="3" name="Image 0" descr="report/centrality_kcore.png">    </p:cNvPr>
          <p:cNvPicPr>
            <a:picLocks noChangeAspect="1"/>
          </p:cNvPicPr>
          <p:nvPr/>
        </p:nvPicPr>
        <p:blipFill>
          <a:blip r:embed="rId1"/>
          <a:stretch>
            <a:fillRect/>
          </a:stretch>
        </p:blipFill>
        <p:spPr>
          <a:xfrm>
            <a:off x="640080" y="1417320"/>
            <a:ext cx="7223760" cy="2761488"/>
          </a:xfrm>
          <a:prstGeom prst="rect">
            <a:avLst/>
          </a:prstGeom>
        </p:spPr>
      </p:pic>
      <p:sp>
        <p:nvSpPr>
          <p:cNvPr id="4" name="Text 1"/>
          <p:cNvSpPr/>
          <p:nvPr/>
        </p:nvSpPr>
        <p:spPr>
          <a:xfrm>
            <a:off x="8138160" y="1417320"/>
            <a:ext cx="173736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6,04</a:t>
            </a:r>
            <a:endParaRPr lang="en-US" sz="2400" dirty="0"/>
          </a:p>
        </p:txBody>
      </p:sp>
      <p:sp>
        <p:nvSpPr>
          <p:cNvPr id="5" name="Text 2"/>
          <p:cNvSpPr/>
          <p:nvPr/>
        </p:nvSpPr>
        <p:spPr>
          <a:xfrm>
            <a:off x="9875520" y="1527048"/>
            <a:ext cx="2194560" cy="5029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ortalama en kısa yol</a:t>
            </a:r>
            <a:endParaRPr lang="en-US" sz="1300" dirty="0"/>
          </a:p>
        </p:txBody>
      </p:sp>
      <p:sp>
        <p:nvSpPr>
          <p:cNvPr id="6" name="Text 3"/>
          <p:cNvSpPr/>
          <p:nvPr/>
        </p:nvSpPr>
        <p:spPr>
          <a:xfrm>
            <a:off x="8138160" y="2194560"/>
            <a:ext cx="173736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17</a:t>
            </a:r>
            <a:endParaRPr lang="en-US" sz="2400" dirty="0"/>
          </a:p>
        </p:txBody>
      </p:sp>
      <p:sp>
        <p:nvSpPr>
          <p:cNvPr id="7" name="Text 4"/>
          <p:cNvSpPr/>
          <p:nvPr/>
        </p:nvSpPr>
        <p:spPr>
          <a:xfrm>
            <a:off x="9875520" y="2304288"/>
            <a:ext cx="2194560" cy="5029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çap (tahmin)</a:t>
            </a:r>
            <a:endParaRPr lang="en-US" sz="1300" dirty="0"/>
          </a:p>
        </p:txBody>
      </p:sp>
      <p:sp>
        <p:nvSpPr>
          <p:cNvPr id="8" name="Text 5"/>
          <p:cNvSpPr/>
          <p:nvPr/>
        </p:nvSpPr>
        <p:spPr>
          <a:xfrm>
            <a:off x="8138160" y="2971800"/>
            <a:ext cx="173736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-0,136</a:t>
            </a:r>
            <a:endParaRPr lang="en-US" sz="2400" dirty="0"/>
          </a:p>
        </p:txBody>
      </p:sp>
      <p:sp>
        <p:nvSpPr>
          <p:cNvPr id="9" name="Text 6"/>
          <p:cNvSpPr/>
          <p:nvPr/>
        </p:nvSpPr>
        <p:spPr>
          <a:xfrm>
            <a:off x="9875520" y="3081528"/>
            <a:ext cx="2194560" cy="5029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assortativity</a:t>
            </a:r>
            <a:endParaRPr lang="en-US" sz="1300" dirty="0"/>
          </a:p>
        </p:txBody>
      </p:sp>
      <p:sp>
        <p:nvSpPr>
          <p:cNvPr id="10" name="Text 7"/>
          <p:cNvSpPr/>
          <p:nvPr/>
        </p:nvSpPr>
        <p:spPr>
          <a:xfrm>
            <a:off x="8138160" y="3749040"/>
            <a:ext cx="173736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k=6</a:t>
            </a:r>
            <a:endParaRPr lang="en-US" sz="2400" dirty="0"/>
          </a:p>
        </p:txBody>
      </p:sp>
      <p:sp>
        <p:nvSpPr>
          <p:cNvPr id="11" name="Text 8"/>
          <p:cNvSpPr/>
          <p:nvPr/>
        </p:nvSpPr>
        <p:spPr>
          <a:xfrm>
            <a:off x="9875520" y="3858768"/>
            <a:ext cx="2194560" cy="5029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en iç çekirdek (516 düğüm)</a:t>
            </a:r>
            <a:endParaRPr lang="en-US" sz="1300" dirty="0"/>
          </a:p>
        </p:txBody>
      </p:sp>
      <p:sp>
        <p:nvSpPr>
          <p:cNvPr id="12" name="Text 9"/>
          <p:cNvSpPr/>
          <p:nvPr/>
        </p:nvSpPr>
        <p:spPr>
          <a:xfrm>
            <a:off x="640080" y="4663440"/>
            <a:ext cx="10972800" cy="548640"/>
          </a:xfrm>
          <a:prstGeom prst="rect">
            <a:avLst/>
          </a:prstGeom>
          <a:noFill/>
          <a:ln/>
        </p:spPr>
        <p:txBody>
          <a:bodyPr wrap="square" rtlCol="0" anchor="ctr"/>
          <a:lstStyle/>
          <a:p>
            <a:pPr indent="0" marL="0">
              <a:buNone/>
            </a:pPr>
            <a:r>
              <a:rPr lang="en-US" sz="1600" i="1" dirty="0">
                <a:solidFill>
                  <a:srgbClr val="5A6478"/>
                </a:solidFill>
                <a:latin typeface="Calibri" pitchFamily="34" charset="0"/>
                <a:ea typeface="Calibri" pitchFamily="34" charset="-122"/>
                <a:cs typeface="Calibri" pitchFamily="34" charset="-120"/>
              </a:rPr>
              <a:t>Herhangi iki aktör ortalama ~6 adımda bağlanıyor; hub'lar küçük oyunculara bağlanıyor (disassortative)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Ekosistemin İç Çekirdeği (6-core)</a:t>
            </a:r>
            <a:endParaRPr lang="en-US" sz="3200" dirty="0"/>
          </a:p>
        </p:txBody>
      </p:sp>
      <p:pic>
        <p:nvPicPr>
          <p:cNvPr id="3" name="Image 0" descr="report/kcore_network.png">    </p:cNvPr>
          <p:cNvPicPr>
            <a:picLocks noChangeAspect="1"/>
          </p:cNvPicPr>
          <p:nvPr/>
        </p:nvPicPr>
        <p:blipFill>
          <a:blip r:embed="rId1"/>
          <a:stretch>
            <a:fillRect/>
          </a:stretch>
        </p:blipFill>
        <p:spPr>
          <a:xfrm>
            <a:off x="822960" y="1234440"/>
            <a:ext cx="6583680" cy="5038344"/>
          </a:xfrm>
          <a:prstGeom prst="rect">
            <a:avLst/>
          </a:prstGeom>
        </p:spPr>
      </p:pic>
      <p:sp>
        <p:nvSpPr>
          <p:cNvPr id="4" name="Text 1"/>
          <p:cNvSpPr/>
          <p:nvPr/>
        </p:nvSpPr>
        <p:spPr>
          <a:xfrm>
            <a:off x="7680960" y="1645920"/>
            <a:ext cx="4023360" cy="3291840"/>
          </a:xfrm>
          <a:prstGeom prst="rect">
            <a:avLst/>
          </a:prstGeom>
          <a:noFill/>
          <a:ln/>
        </p:spPr>
        <p:txBody>
          <a:bodyPr wrap="square" rtlCol="0" anchor="ctr"/>
          <a:lstStyle/>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516 düğüm, 2.760 kenar</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Y Combinator, 500 Startups, First Round, Andreessen Horowitz, Ron Conway...</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Silikon Vadisi tohum/melek çevresi çekirdeğin kalbinde</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Mavi = yatırımcı, kırmızı = şirket, boyut = derece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Topluluk Yapısı: Yatırım Klikleri</a:t>
            </a:r>
            <a:endParaRPr lang="en-US" sz="3200" dirty="0"/>
          </a:p>
        </p:txBody>
      </p:sp>
      <p:pic>
        <p:nvPicPr>
          <p:cNvPr id="3" name="Image 0" descr="report/community_sizes.png">    </p:cNvPr>
          <p:cNvPicPr>
            <a:picLocks noChangeAspect="1"/>
          </p:cNvPicPr>
          <p:nvPr/>
        </p:nvPicPr>
        <p:blipFill>
          <a:blip r:embed="rId1"/>
          <a:stretch>
            <a:fillRect/>
          </a:stretch>
        </p:blipFill>
        <p:spPr>
          <a:xfrm>
            <a:off x="640080" y="1463040"/>
            <a:ext cx="4937760" cy="3456432"/>
          </a:xfrm>
          <a:prstGeom prst="rect">
            <a:avLst/>
          </a:prstGeom>
        </p:spPr>
      </p:pic>
      <p:sp>
        <p:nvSpPr>
          <p:cNvPr id="4" name="Text 1"/>
          <p:cNvSpPr/>
          <p:nvPr/>
        </p:nvSpPr>
        <p:spPr>
          <a:xfrm>
            <a:off x="5943600" y="1463040"/>
            <a:ext cx="384048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Geç aşama kurumsal VC</a:t>
            </a:r>
            <a:endParaRPr lang="en-US" sz="1500" dirty="0"/>
          </a:p>
        </p:txBody>
      </p:sp>
      <p:sp>
        <p:nvSpPr>
          <p:cNvPr id="5" name="Text 2"/>
          <p:cNvSpPr/>
          <p:nvPr/>
        </p:nvSpPr>
        <p:spPr>
          <a:xfrm>
            <a:off x="5943600" y="1847088"/>
            <a:ext cx="4206240" cy="36576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Intel Capital, NEA, Kleiner Perkins</a:t>
            </a:r>
            <a:endParaRPr lang="en-US" sz="1200" dirty="0"/>
          </a:p>
        </p:txBody>
      </p:sp>
      <p:sp>
        <p:nvSpPr>
          <p:cNvPr id="6" name="Text 3"/>
          <p:cNvSpPr/>
          <p:nvPr/>
        </p:nvSpPr>
        <p:spPr>
          <a:xfrm>
            <a:off x="10332720" y="1554480"/>
            <a:ext cx="1463040" cy="41148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2.165 üye</a:t>
            </a:r>
            <a:endParaRPr lang="en-US" sz="1400" dirty="0"/>
          </a:p>
        </p:txBody>
      </p:sp>
      <p:sp>
        <p:nvSpPr>
          <p:cNvPr id="7" name="Text 4"/>
          <p:cNvSpPr/>
          <p:nvPr/>
        </p:nvSpPr>
        <p:spPr>
          <a:xfrm>
            <a:off x="5943600" y="2331720"/>
            <a:ext cx="384048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Tohum/melek — SF Bay</a:t>
            </a:r>
            <a:endParaRPr lang="en-US" sz="1500" dirty="0"/>
          </a:p>
        </p:txBody>
      </p:sp>
      <p:sp>
        <p:nvSpPr>
          <p:cNvPr id="8" name="Text 5"/>
          <p:cNvSpPr/>
          <p:nvPr/>
        </p:nvSpPr>
        <p:spPr>
          <a:xfrm>
            <a:off x="5943600" y="2715768"/>
            <a:ext cx="4206240" cy="36576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SV Angel, First Round, a16z</a:t>
            </a:r>
            <a:endParaRPr lang="en-US" sz="1200" dirty="0"/>
          </a:p>
        </p:txBody>
      </p:sp>
      <p:sp>
        <p:nvSpPr>
          <p:cNvPr id="9" name="Text 6"/>
          <p:cNvSpPr/>
          <p:nvPr/>
        </p:nvSpPr>
        <p:spPr>
          <a:xfrm>
            <a:off x="10332720" y="2423160"/>
            <a:ext cx="1463040" cy="41148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1.488 üye</a:t>
            </a:r>
            <a:endParaRPr lang="en-US" sz="1400" dirty="0"/>
          </a:p>
        </p:txBody>
      </p:sp>
      <p:sp>
        <p:nvSpPr>
          <p:cNvPr id="10" name="Text 7"/>
          <p:cNvSpPr/>
          <p:nvPr/>
        </p:nvSpPr>
        <p:spPr>
          <a:xfrm>
            <a:off x="5943600" y="3200400"/>
            <a:ext cx="384048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Doğu yakası / sağlık-teknoloji</a:t>
            </a:r>
            <a:endParaRPr lang="en-US" sz="1500" dirty="0"/>
          </a:p>
        </p:txBody>
      </p:sp>
      <p:sp>
        <p:nvSpPr>
          <p:cNvPr id="11" name="Text 8"/>
          <p:cNvSpPr/>
          <p:nvPr/>
        </p:nvSpPr>
        <p:spPr>
          <a:xfrm>
            <a:off x="5943600" y="3584448"/>
            <a:ext cx="4206240" cy="36576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Venrock, Canaan, Polaris</a:t>
            </a:r>
            <a:endParaRPr lang="en-US" sz="1200" dirty="0"/>
          </a:p>
        </p:txBody>
      </p:sp>
      <p:sp>
        <p:nvSpPr>
          <p:cNvPr id="12" name="Text 9"/>
          <p:cNvSpPr/>
          <p:nvPr/>
        </p:nvSpPr>
        <p:spPr>
          <a:xfrm>
            <a:off x="10332720" y="3291840"/>
            <a:ext cx="1463040" cy="41148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1.228 üye</a:t>
            </a:r>
            <a:endParaRPr lang="en-US" sz="1400" dirty="0"/>
          </a:p>
        </p:txBody>
      </p:sp>
      <p:sp>
        <p:nvSpPr>
          <p:cNvPr id="13" name="Text 10"/>
          <p:cNvSpPr/>
          <p:nvPr/>
        </p:nvSpPr>
        <p:spPr>
          <a:xfrm>
            <a:off x="5943600" y="4069080"/>
            <a:ext cx="384048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Techstars ekosistemi</a:t>
            </a:r>
            <a:endParaRPr lang="en-US" sz="1500" dirty="0"/>
          </a:p>
        </p:txBody>
      </p:sp>
      <p:sp>
        <p:nvSpPr>
          <p:cNvPr id="14" name="Text 11"/>
          <p:cNvSpPr/>
          <p:nvPr/>
        </p:nvSpPr>
        <p:spPr>
          <a:xfrm>
            <a:off x="5943600" y="4453128"/>
            <a:ext cx="4206240" cy="36576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Techstars, David Cohen</a:t>
            </a:r>
            <a:endParaRPr lang="en-US" sz="1200" dirty="0"/>
          </a:p>
        </p:txBody>
      </p:sp>
      <p:sp>
        <p:nvSpPr>
          <p:cNvPr id="15" name="Text 12"/>
          <p:cNvSpPr/>
          <p:nvPr/>
        </p:nvSpPr>
        <p:spPr>
          <a:xfrm>
            <a:off x="10332720" y="4160520"/>
            <a:ext cx="1463040" cy="41148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958 üye</a:t>
            </a:r>
            <a:endParaRPr lang="en-US" sz="1400" dirty="0"/>
          </a:p>
        </p:txBody>
      </p:sp>
      <p:sp>
        <p:nvSpPr>
          <p:cNvPr id="16" name="Text 13"/>
          <p:cNvSpPr/>
          <p:nvPr/>
        </p:nvSpPr>
        <p:spPr>
          <a:xfrm>
            <a:off x="5943600" y="4937760"/>
            <a:ext cx="384048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500 Startups ekosistemi</a:t>
            </a:r>
            <a:endParaRPr lang="en-US" sz="1500" dirty="0"/>
          </a:p>
        </p:txBody>
      </p:sp>
      <p:sp>
        <p:nvSpPr>
          <p:cNvPr id="17" name="Text 14"/>
          <p:cNvSpPr/>
          <p:nvPr/>
        </p:nvSpPr>
        <p:spPr>
          <a:xfrm>
            <a:off x="5943600" y="5321808"/>
            <a:ext cx="4206240" cy="36576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500 Startups, Dave McClure</a:t>
            </a:r>
            <a:endParaRPr lang="en-US" sz="1200" dirty="0"/>
          </a:p>
        </p:txBody>
      </p:sp>
      <p:sp>
        <p:nvSpPr>
          <p:cNvPr id="18" name="Text 15"/>
          <p:cNvSpPr/>
          <p:nvPr/>
        </p:nvSpPr>
        <p:spPr>
          <a:xfrm>
            <a:off x="10332720" y="5029200"/>
            <a:ext cx="1463040" cy="41148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736 üye</a:t>
            </a:r>
            <a:endParaRPr lang="en-US" sz="1400" dirty="0"/>
          </a:p>
        </p:txBody>
      </p:sp>
      <p:sp>
        <p:nvSpPr>
          <p:cNvPr id="19" name="Text 16"/>
          <p:cNvSpPr/>
          <p:nvPr/>
        </p:nvSpPr>
        <p:spPr>
          <a:xfrm>
            <a:off x="640080" y="5394960"/>
            <a:ext cx="10972800" cy="548640"/>
          </a:xfrm>
          <a:prstGeom prst="rect">
            <a:avLst/>
          </a:prstGeom>
          <a:noFill/>
          <a:ln/>
        </p:spPr>
        <p:txBody>
          <a:bodyPr wrap="square" rtlCol="0" anchor="ctr"/>
          <a:lstStyle/>
          <a:p>
            <a:pPr indent="0" marL="0">
              <a:buNone/>
            </a:pPr>
            <a:r>
              <a:rPr lang="en-US" sz="1600" i="1" dirty="0">
                <a:solidFill>
                  <a:srgbClr val="5A6478"/>
                </a:solidFill>
                <a:latin typeface="Calibri" pitchFamily="34" charset="0"/>
                <a:ea typeface="Calibri" pitchFamily="34" charset="-122"/>
                <a:cs typeface="Calibri" pitchFamily="34" charset="-120"/>
              </a:rPr>
              <a:t>Louvain: 54 topluluk, modülerlik 0,44 — aşama ve coğrafya eksenlerinde ayrışma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457200"/>
            <a:ext cx="109728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Sonuçlar</a:t>
            </a:r>
            <a:endParaRPr lang="en-US" sz="3400" dirty="0"/>
          </a:p>
        </p:txBody>
      </p:sp>
      <p:sp>
        <p:nvSpPr>
          <p:cNvPr id="3" name="Shape 1"/>
          <p:cNvSpPr/>
          <p:nvPr/>
        </p:nvSpPr>
        <p:spPr>
          <a:xfrm>
            <a:off x="822960" y="1600200"/>
            <a:ext cx="502920" cy="502920"/>
          </a:xfrm>
          <a:prstGeom prst="ellipse">
            <a:avLst/>
          </a:prstGeom>
          <a:solidFill>
            <a:srgbClr val="CADCFC"/>
          </a:solidFill>
          <a:ln/>
        </p:spPr>
      </p:sp>
      <p:sp>
        <p:nvSpPr>
          <p:cNvPr id="4" name="Text 2"/>
          <p:cNvSpPr/>
          <p:nvPr/>
        </p:nvSpPr>
        <p:spPr>
          <a:xfrm>
            <a:off x="822960" y="160020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1600200" y="1554480"/>
            <a:ext cx="10058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Seyrek ama eşitsiz: küçük bir VC/hızlandırıcı grubu ilişkilerin büyük bölümünü yönlendiriyor</a:t>
            </a:r>
            <a:endParaRPr lang="en-US" sz="1700" dirty="0"/>
          </a:p>
        </p:txBody>
      </p:sp>
      <p:sp>
        <p:nvSpPr>
          <p:cNvPr id="6" name="Shape 4"/>
          <p:cNvSpPr/>
          <p:nvPr/>
        </p:nvSpPr>
        <p:spPr>
          <a:xfrm>
            <a:off x="822960" y="2560320"/>
            <a:ext cx="502920" cy="502920"/>
          </a:xfrm>
          <a:prstGeom prst="ellipse">
            <a:avLst/>
          </a:prstGeom>
          <a:solidFill>
            <a:srgbClr val="CADCFC"/>
          </a:solidFill>
          <a:ln/>
        </p:spPr>
      </p:sp>
      <p:sp>
        <p:nvSpPr>
          <p:cNvPr id="7" name="Text 5"/>
          <p:cNvSpPr/>
          <p:nvPr/>
        </p:nvSpPr>
        <p:spPr>
          <a:xfrm>
            <a:off x="822960" y="256032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8" name="Text 6"/>
          <p:cNvSpPr/>
          <p:nvPr/>
        </p:nvSpPr>
        <p:spPr>
          <a:xfrm>
            <a:off x="1600200" y="2514600"/>
            <a:ext cx="10058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Küçük dünya: %84 dev bileşen + ortalama 6 adım → bilgi/itibar hızla yayılabilir</a:t>
            </a:r>
            <a:endParaRPr lang="en-US" sz="1700" dirty="0"/>
          </a:p>
        </p:txBody>
      </p:sp>
      <p:sp>
        <p:nvSpPr>
          <p:cNvPr id="9" name="Shape 7"/>
          <p:cNvSpPr/>
          <p:nvPr/>
        </p:nvSpPr>
        <p:spPr>
          <a:xfrm>
            <a:off x="822960" y="3520440"/>
            <a:ext cx="502920" cy="502920"/>
          </a:xfrm>
          <a:prstGeom prst="ellipse">
            <a:avLst/>
          </a:prstGeom>
          <a:solidFill>
            <a:srgbClr val="CADCFC"/>
          </a:solidFill>
          <a:ln/>
        </p:spPr>
      </p:sp>
      <p:sp>
        <p:nvSpPr>
          <p:cNvPr id="10" name="Text 8"/>
          <p:cNvSpPr/>
          <p:nvPr/>
        </p:nvSpPr>
        <p:spPr>
          <a:xfrm>
            <a:off x="822960" y="352044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1" name="Text 9"/>
          <p:cNvSpPr/>
          <p:nvPr/>
        </p:nvSpPr>
        <p:spPr>
          <a:xfrm>
            <a:off x="1600200" y="3474720"/>
            <a:ext cx="10058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Merkez–çeper: 516 düğümlük yoğun 6-core çekirdek, on binlerce çevre düğümüne hizmet ediyor</a:t>
            </a:r>
            <a:endParaRPr lang="en-US" sz="1700" dirty="0"/>
          </a:p>
        </p:txBody>
      </p:sp>
      <p:sp>
        <p:nvSpPr>
          <p:cNvPr id="12" name="Shape 10"/>
          <p:cNvSpPr/>
          <p:nvPr/>
        </p:nvSpPr>
        <p:spPr>
          <a:xfrm>
            <a:off x="822960" y="4480560"/>
            <a:ext cx="502920" cy="502920"/>
          </a:xfrm>
          <a:prstGeom prst="ellipse">
            <a:avLst/>
          </a:prstGeom>
          <a:solidFill>
            <a:srgbClr val="CADCFC"/>
          </a:solidFill>
          <a:ln/>
        </p:spPr>
      </p:sp>
      <p:sp>
        <p:nvSpPr>
          <p:cNvPr id="13" name="Text 11"/>
          <p:cNvSpPr/>
          <p:nvPr/>
        </p:nvSpPr>
        <p:spPr>
          <a:xfrm>
            <a:off x="822960" y="448056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14" name="Text 12"/>
          <p:cNvSpPr/>
          <p:nvPr/>
        </p:nvSpPr>
        <p:spPr>
          <a:xfrm>
            <a:off x="1600200" y="4434840"/>
            <a:ext cx="10058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Merkeziyet ölçümleri büyük ölçüde örtüşüyor; betweenness köprü rolünü ayrıca yakalıyor</a:t>
            </a:r>
            <a:endParaRPr lang="en-US" sz="1700" dirty="0"/>
          </a:p>
        </p:txBody>
      </p:sp>
      <p:sp>
        <p:nvSpPr>
          <p:cNvPr id="15" name="Shape 13"/>
          <p:cNvSpPr/>
          <p:nvPr/>
        </p:nvSpPr>
        <p:spPr>
          <a:xfrm>
            <a:off x="822960" y="5440680"/>
            <a:ext cx="502920" cy="502920"/>
          </a:xfrm>
          <a:prstGeom prst="ellipse">
            <a:avLst/>
          </a:prstGeom>
          <a:solidFill>
            <a:srgbClr val="CADCFC"/>
          </a:solidFill>
          <a:ln/>
        </p:spPr>
      </p:sp>
      <p:sp>
        <p:nvSpPr>
          <p:cNvPr id="16" name="Text 14"/>
          <p:cNvSpPr/>
          <p:nvPr/>
        </p:nvSpPr>
        <p:spPr>
          <a:xfrm>
            <a:off x="822960" y="544068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5</a:t>
            </a:r>
            <a:endParaRPr lang="en-US" sz="1800" dirty="0"/>
          </a:p>
        </p:txBody>
      </p:sp>
      <p:sp>
        <p:nvSpPr>
          <p:cNvPr id="17" name="Text 15"/>
          <p:cNvSpPr/>
          <p:nvPr/>
        </p:nvSpPr>
        <p:spPr>
          <a:xfrm>
            <a:off x="1600200" y="5394960"/>
            <a:ext cx="1005840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Topluluklar ekonomik olarak anlamlı: yatırım aşaması + coğrafya/program eksenleri</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Kısıtlar ve Gelecek Çalışmalar</a:t>
            </a:r>
            <a:endParaRPr lang="en-US" sz="3200" dirty="0"/>
          </a:p>
        </p:txBody>
      </p:sp>
      <p:sp>
        <p:nvSpPr>
          <p:cNvPr id="3" name="Text 1"/>
          <p:cNvSpPr/>
          <p:nvPr/>
        </p:nvSpPr>
        <p:spPr>
          <a:xfrm>
            <a:off x="731520" y="1371600"/>
            <a:ext cx="5303520" cy="457200"/>
          </a:xfrm>
          <a:prstGeom prst="rect">
            <a:avLst/>
          </a:prstGeom>
          <a:noFill/>
          <a:ln/>
        </p:spPr>
        <p:txBody>
          <a:bodyPr wrap="square" lIns="0" tIns="0" rIns="0" bIns="0" rtlCol="0" anchor="ctr"/>
          <a:lstStyle/>
          <a:p>
            <a:pPr indent="0" marL="0">
              <a:buNone/>
            </a:pPr>
            <a:r>
              <a:rPr lang="en-US" sz="2000" b="1" dirty="0">
                <a:solidFill>
                  <a:srgbClr val="C0392B"/>
                </a:solidFill>
                <a:latin typeface="Cambria" pitchFamily="34" charset="0"/>
                <a:ea typeface="Cambria" pitchFamily="34" charset="-122"/>
                <a:cs typeface="Cambria" pitchFamily="34" charset="-120"/>
              </a:rPr>
              <a:t>Kısıtlar</a:t>
            </a:r>
            <a:endParaRPr lang="en-US" sz="2000" dirty="0"/>
          </a:p>
        </p:txBody>
      </p:sp>
      <p:sp>
        <p:nvSpPr>
          <p:cNvPr id="4" name="Text 2"/>
          <p:cNvSpPr/>
          <p:nvPr/>
        </p:nvSpPr>
        <p:spPr>
          <a:xfrm>
            <a:off x="731520" y="1920240"/>
            <a:ext cx="5303520" cy="3840480"/>
          </a:xfrm>
          <a:prstGeom prst="rect">
            <a:avLst/>
          </a:prstGeom>
          <a:noFill/>
          <a:ln/>
        </p:spPr>
        <p:txBody>
          <a:bodyPr wrap="square" rtlCol="0" anchor="ctr"/>
          <a:lstStyle/>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Veri 2013'te donmuş; ABD ağırlıklı</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Performans (exit/IPO) verisi yok — merkeziyet-başarı ilişkisi test edilemedi</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Çift-rollü kurumların ayrık modellenmesi toplam merkeziyeti düşük gösterebilir</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Kayıtların %6,8'inde tutar eksik; yol/çap örneklem tahmini</a:t>
            </a:r>
            <a:endParaRPr lang="en-US" sz="1500" dirty="0"/>
          </a:p>
        </p:txBody>
      </p:sp>
      <p:sp>
        <p:nvSpPr>
          <p:cNvPr id="5" name="Text 3"/>
          <p:cNvSpPr/>
          <p:nvPr/>
        </p:nvSpPr>
        <p:spPr>
          <a:xfrm>
            <a:off x="6400800" y="1371600"/>
            <a:ext cx="530352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Gelecek çalışmalar</a:t>
            </a:r>
            <a:endParaRPr lang="en-US" sz="2000" dirty="0"/>
          </a:p>
        </p:txBody>
      </p:sp>
      <p:sp>
        <p:nvSpPr>
          <p:cNvPr id="6" name="Text 4"/>
          <p:cNvSpPr/>
          <p:nvPr/>
        </p:nvSpPr>
        <p:spPr>
          <a:xfrm>
            <a:off x="6400800" y="1920240"/>
            <a:ext cx="5303520" cy="4206240"/>
          </a:xfrm>
          <a:prstGeom prst="rect">
            <a:avLst/>
          </a:prstGeom>
          <a:noFill/>
          <a:ln/>
        </p:spPr>
        <p:txBody>
          <a:bodyPr wrap="square" rtlCol="0" anchor="ctr"/>
          <a:lstStyle/>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Dinamik ağ: zaman içinde evrim, preferential attachment'ın doğrudan testi</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Sektör/coğrafya homofilisi (kategorik assortativity)</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Leiden ile topluluk sağlamlık kontrolü</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Güncel veriyle 2013 sonrası dönüşümün karşılaştırılması</a:t>
            </a:r>
            <a:endParaRPr lang="en-US" sz="1500" dirty="0"/>
          </a:p>
          <a:p>
            <a:pPr marL="342900" indent="-342900">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Ağ konumundan sonraki tur alma olasılığının tahmini</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2011680"/>
            <a:ext cx="109728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Demo</a:t>
            </a:r>
            <a:endParaRPr lang="en-US" sz="4400" dirty="0"/>
          </a:p>
        </p:txBody>
      </p:sp>
      <p:sp>
        <p:nvSpPr>
          <p:cNvPr id="3" name="Text 1"/>
          <p:cNvSpPr/>
          <p:nvPr/>
        </p:nvSpPr>
        <p:spPr>
          <a:xfrm>
            <a:off x="731520" y="3017520"/>
            <a:ext cx="10972800" cy="548640"/>
          </a:xfrm>
          <a:prstGeom prst="rect">
            <a:avLst/>
          </a:prstGeom>
          <a:noFill/>
          <a:ln/>
        </p:spPr>
        <p:txBody>
          <a:bodyPr wrap="square" rtlCol="0" anchor="ctr"/>
          <a:lstStyle/>
          <a:p>
            <a:pPr indent="0" marL="0">
              <a:buNone/>
            </a:pPr>
            <a:r>
              <a:rPr lang="en-US" sz="2000" dirty="0">
                <a:solidFill>
                  <a:srgbClr val="CADCFC"/>
                </a:solidFill>
                <a:latin typeface="Courier New" pitchFamily="34" charset="0"/>
                <a:ea typeface="Courier New" pitchFamily="34" charset="-122"/>
                <a:cs typeface="Courier New" pitchFamily="34" charset="-120"/>
              </a:rPr>
              <a:t>projekod_221101064_Ali_Hakan_Kincal.ipynb</a:t>
            </a:r>
            <a:endParaRPr lang="en-US" sz="2000" dirty="0"/>
          </a:p>
        </p:txBody>
      </p:sp>
      <p:sp>
        <p:nvSpPr>
          <p:cNvPr id="4" name="Text 2"/>
          <p:cNvSpPr/>
          <p:nvPr/>
        </p:nvSpPr>
        <p:spPr>
          <a:xfrm>
            <a:off x="731520" y="3749040"/>
            <a:ext cx="10515600" cy="82296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Veri yükleme → igraph ile ağ kurulumu → temel ölçümler → merkeziyet &amp; k-core → Louvain toplulukları</a:t>
            </a:r>
            <a:endParaRPr lang="en-US" sz="1800" dirty="0"/>
          </a:p>
        </p:txBody>
      </p:sp>
      <p:sp>
        <p:nvSpPr>
          <p:cNvPr id="5" name="Text 3"/>
          <p:cNvSpPr/>
          <p:nvPr/>
        </p:nvSpPr>
        <p:spPr>
          <a:xfrm>
            <a:off x="731520" y="5303520"/>
            <a:ext cx="10972800" cy="640080"/>
          </a:xfrm>
          <a:prstGeom prst="rect">
            <a:avLst/>
          </a:prstGeom>
          <a:noFill/>
          <a:ln/>
        </p:spPr>
        <p:txBody>
          <a:bodyPr wrap="square" rtlCol="0" anchor="ctr"/>
          <a:lstStyle/>
          <a:p>
            <a:pPr indent="0" marL="0">
              <a:buNone/>
            </a:pPr>
            <a:r>
              <a:rPr lang="en-US" sz="2400" b="1" dirty="0">
                <a:solidFill>
                  <a:srgbClr val="CADCFC"/>
                </a:solidFill>
                <a:latin typeface="Cambria" pitchFamily="34" charset="0"/>
                <a:ea typeface="Cambria" pitchFamily="34" charset="-122"/>
                <a:cs typeface="Cambria" pitchFamily="34" charset="-120"/>
              </a:rPr>
              <a:t>Teşekkürler</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2026-07-24T10:30:43Z</dcterms:created>
  <dcterms:modified xsi:type="dcterms:W3CDTF">2026-07-24T10:30:43Z</dcterms:modified>
</cp:coreProperties>
</file>